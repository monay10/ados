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94960" y="2103120"/>
            <a:ext cx="1371600" cy="13716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41264" y="2148840"/>
            <a:ext cx="1097280" cy="1097280"/>
          </a:xfrm>
          <a:prstGeom prst="round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2900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E6EDF3"/>
                </a:solidFill>
                <a:latin typeface="Arial"/>
              </a:rPr>
              <a:t>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434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B8CFF"/>
                </a:solidFill>
                <a:latin typeface="Arial"/>
              </a:rPr>
              <a:t>Enterprise AI Operating System for Advertising</a:t>
            </a:r>
          </a:p>
          <a:p>
            <a:pPr algn="ctr"/>
            <a:r>
              <a:rPr sz="1600" b="0">
                <a:solidFill>
                  <a:srgbClr val="8B98A9"/>
                </a:solidFill>
                <a:latin typeface="Arial"/>
              </a:rPr>
              <a:t>Reklam için Kurumsal Yapay Zekâ İşletim Sistemi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2120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E6EDF3"/>
                </a:solidFill>
                <a:latin typeface="Arial"/>
              </a:rPr>
              <a:t>Enterprise AI that never leaves your building.</a:t>
            </a:r>
          </a:p>
          <a:p>
            <a:pPr algn="ctr"/>
            <a:r>
              <a:rPr sz="1400" b="0">
                <a:solidFill>
                  <a:srgbClr val="8B98A9"/>
                </a:solidFill>
                <a:latin typeface="Arial"/>
              </a:rPr>
              <a:t>Binanızdan hiç çıkmayan kurumsal yapay zekâ.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B98A9"/>
                </a:solidFill>
                <a:latin typeface="Arial"/>
              </a:rPr>
              <a:t>100% local · No cloud · No API keys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82296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8CFF"/>
                </a:solidFill>
                <a:latin typeface="Arial"/>
              </a:rPr>
              <a:t>THE WORLD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B98A9"/>
                </a:solidFill>
                <a:latin typeface="Arial"/>
              </a:rPr>
              <a:t>2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B98A9"/>
                </a:solidFill>
                <a:latin typeface="Arial"/>
              </a:rPr>
              <a:t>AdOS — Enterprise AI Operating System for Advertising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Arial"/>
              </a:rPr>
              <a:t>The problems every organization faces</a:t>
            </a:r>
          </a:p>
          <a:p>
            <a:pPr algn="l"/>
            <a:r>
              <a:rPr sz="2000" b="0">
                <a:solidFill>
                  <a:srgbClr val="8B98A9"/>
                </a:solidFill>
                <a:latin typeface="Arial"/>
              </a:rPr>
              <a:t>Her kurumun karşılaştığı sorunlar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6EDF3"/>
                </a:solidFill>
                <a:latin typeface="Arial"/>
              </a:rPr>
              <a:t>Work is slow. Knowledge is scattered. Approvals wait on busy people. And AI promises help — at the price of your data.</a:t>
            </a:r>
          </a:p>
          <a:p>
            <a:pPr algn="l"/>
            <a:r>
              <a:rPr sz="800" b="0">
                <a:solidFill>
                  <a:srgbClr val="E6EDF3"/>
                </a:solidFill>
                <a:latin typeface="Arial"/>
              </a:rPr>
              <a:t/>
            </a:r>
          </a:p>
          <a:p>
            <a:pPr algn="l"/>
            <a:r>
              <a:rPr sz="1600" b="0">
                <a:solidFill>
                  <a:srgbClr val="8B98A9"/>
                </a:solidFill>
                <a:latin typeface="Arial"/>
              </a:rPr>
              <a:t>İşler yavaş. Bilgi dağınık. Onaylar meşgul kişileri bekliyor. Yapay zekâ yardım vaat ediyor — verilerinizi karşılığında isteyerek.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82296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8CFF"/>
                </a:solidFill>
                <a:latin typeface="Arial"/>
              </a:rPr>
              <a:t>THE WORLD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B98A9"/>
                </a:solidFill>
                <a:latin typeface="Arial"/>
              </a:rPr>
              <a:t>3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B98A9"/>
                </a:solidFill>
                <a:latin typeface="Arial"/>
              </a:rPr>
              <a:t>AdOS — Enterprise AI Operating System for Advertising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Arial"/>
              </a:rPr>
              <a:t>Digital transformation is changing shape</a:t>
            </a:r>
          </a:p>
          <a:p>
            <a:pPr algn="l"/>
            <a:r>
              <a:rPr sz="2000" b="0">
                <a:solidFill>
                  <a:srgbClr val="8B98A9"/>
                </a:solidFill>
                <a:latin typeface="Arial"/>
              </a:rPr>
              <a:t>Dijital dönüşüm biçim değiştiriyor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6EDF3"/>
                </a:solidFill>
                <a:latin typeface="Arial"/>
              </a:rPr>
              <a:t>You digitized your processes. The next step is intelligence — systems that understand your business and do the work, on your terms.</a:t>
            </a:r>
          </a:p>
          <a:p>
            <a:pPr algn="l"/>
            <a:r>
              <a:rPr sz="800" b="0">
                <a:solidFill>
                  <a:srgbClr val="E6EDF3"/>
                </a:solidFill>
                <a:latin typeface="Arial"/>
              </a:rPr>
              <a:t/>
            </a:r>
          </a:p>
          <a:p>
            <a:pPr algn="l"/>
            <a:r>
              <a:rPr sz="1600" b="0">
                <a:solidFill>
                  <a:srgbClr val="8B98A9"/>
                </a:solidFill>
                <a:latin typeface="Arial"/>
              </a:rPr>
              <a:t>Süreçlerinizi dijitalleştirdiniz. Sıradaki adım zekâ — işinizi anlayan ve işi yapan sistemler, sizin koşullarınızda.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82296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8CFF"/>
                </a:solidFill>
                <a:latin typeface="Arial"/>
              </a:rPr>
              <a:t>THE WORLD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B98A9"/>
                </a:solidFill>
                <a:latin typeface="Arial"/>
              </a:rPr>
              <a:t>4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B98A9"/>
                </a:solidFill>
                <a:latin typeface="Arial"/>
              </a:rPr>
              <a:t>AdOS — Enterprise AI Operating System for Advertising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Arial"/>
              </a:rPr>
              <a:t>What worked in your campaigns walks out the door</a:t>
            </a:r>
          </a:p>
          <a:p>
            <a:pPr algn="l"/>
            <a:r>
              <a:rPr sz="2000" b="0">
                <a:solidFill>
                  <a:srgbClr val="8B98A9"/>
                </a:solidFill>
                <a:latin typeface="Arial"/>
              </a:rPr>
              <a:t>Kampanyalarınızda işe yarayan bilgi kapıdan çıkıyor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6EDF3"/>
                </a:solidFill>
                <a:latin typeface="Arial"/>
              </a:rPr>
              <a:t>Experience retires. Winning playbooks get lost. Every departure takes campaign know-how with it. What if your team could remember every campaign that worked?</a:t>
            </a:r>
          </a:p>
          <a:p>
            <a:pPr algn="l"/>
            <a:r>
              <a:rPr sz="800" b="0">
                <a:solidFill>
                  <a:srgbClr val="E6EDF3"/>
                </a:solidFill>
                <a:latin typeface="Arial"/>
              </a:rPr>
              <a:t/>
            </a:r>
          </a:p>
          <a:p>
            <a:pPr algn="l"/>
            <a:r>
              <a:rPr sz="1600" b="0">
                <a:solidFill>
                  <a:srgbClr val="8B98A9"/>
                </a:solidFill>
                <a:latin typeface="Arial"/>
              </a:rPr>
              <a:t>Deneyim emekli oluyor. Kazanan taktikler kayboluyor. Her ayrılış kampanya bilgisini götürüyor. Ya ekibiniz işe yarayan her kampanyayı hatırlayabilseydi?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82296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8CFF"/>
                </a:solidFill>
                <a:latin typeface="Arial"/>
              </a:rPr>
              <a:t>THE WORLD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B98A9"/>
                </a:solidFill>
                <a:latin typeface="Arial"/>
              </a:rPr>
              <a:t>5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B98A9"/>
                </a:solidFill>
                <a:latin typeface="Arial"/>
              </a:rPr>
              <a:t>AdOS — Enterprise AI Operating System for Advertising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Arial"/>
              </a:rPr>
              <a:t>AI is inevitable. The risk is where it runs.</a:t>
            </a:r>
          </a:p>
          <a:p>
            <a:pPr algn="l"/>
            <a:r>
              <a:rPr sz="2000" b="0">
                <a:solidFill>
                  <a:srgbClr val="8B98A9"/>
                </a:solidFill>
                <a:latin typeface="Arial"/>
              </a:rPr>
              <a:t>Yapay zekâ kaçınılmaz. Risk, nerede çalıştığında.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6EDF3"/>
                </a:solidFill>
                <a:latin typeface="Arial"/>
              </a:rPr>
              <a:t>The question is no longer whether to adopt AI — it's whether you adopt it safely, with your data under your control.</a:t>
            </a:r>
          </a:p>
          <a:p>
            <a:pPr algn="l"/>
            <a:r>
              <a:rPr sz="800" b="0">
                <a:solidFill>
                  <a:srgbClr val="E6EDF3"/>
                </a:solidFill>
                <a:latin typeface="Arial"/>
              </a:rPr>
              <a:t/>
            </a:r>
          </a:p>
          <a:p>
            <a:pPr algn="l"/>
            <a:r>
              <a:rPr sz="1600" b="0">
                <a:solidFill>
                  <a:srgbClr val="8B98A9"/>
                </a:solidFill>
                <a:latin typeface="Arial"/>
              </a:rPr>
              <a:t>Soru artık yapay zekâyı benimseyip benimsememek değil — onu güvenle, verileriniz kontrolünüzde benimseyip benimsemediğiniz.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82296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8CFF"/>
                </a:solidFill>
                <a:latin typeface="Arial"/>
              </a:rPr>
              <a:t>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B98A9"/>
                </a:solidFill>
                <a:latin typeface="Arial"/>
              </a:rPr>
              <a:t>6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B98A9"/>
                </a:solidFill>
                <a:latin typeface="Arial"/>
              </a:rPr>
              <a:t>AdOS — Enterprise AI Operating System for Advertising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Arial"/>
              </a:rPr>
              <a:t>Local AI: the intelligence comes to your data</a:t>
            </a:r>
          </a:p>
          <a:p>
            <a:pPr algn="l"/>
            <a:r>
              <a:rPr sz="2000" b="0">
                <a:solidFill>
                  <a:srgbClr val="8B98A9"/>
                </a:solidFill>
                <a:latin typeface="Arial"/>
              </a:rPr>
              <a:t>Yerel yapay zekâ: zekâ verinize gelir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6EDF3"/>
                </a:solidFill>
                <a:latin typeface="Arial"/>
              </a:rPr>
              <a:t>The AI models run on your own computers. No cloud. No API keys. Your information never goes to anyone else.</a:t>
            </a:r>
          </a:p>
          <a:p>
            <a:pPr algn="l"/>
            <a:r>
              <a:rPr sz="800" b="0">
                <a:solidFill>
                  <a:srgbClr val="E6EDF3"/>
                </a:solidFill>
                <a:latin typeface="Arial"/>
              </a:rPr>
              <a:t/>
            </a:r>
          </a:p>
          <a:p>
            <a:pPr algn="l"/>
            <a:r>
              <a:rPr sz="1600" b="0">
                <a:solidFill>
                  <a:srgbClr val="8B98A9"/>
                </a:solidFill>
                <a:latin typeface="Arial"/>
              </a:rPr>
              <a:t>Yapay zekâ modelleri kendi bilgisayarlarınızda çalışır. Bulut yok. API anahtarı yok. Bilgileriniz asla başkasına gitmez.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82296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8CFF"/>
                </a:solidFill>
                <a:latin typeface="Arial"/>
              </a:rPr>
              <a:t>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B98A9"/>
                </a:solidFill>
                <a:latin typeface="Arial"/>
              </a:rPr>
              <a:t>7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B98A9"/>
                </a:solidFill>
                <a:latin typeface="Arial"/>
              </a:rPr>
              <a:t>AdOS — Enterprise AI Operating System for Advertising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Arial"/>
              </a:rPr>
              <a:t>One boundary: everything stays inside</a:t>
            </a:r>
          </a:p>
          <a:p>
            <a:pPr algn="l"/>
            <a:r>
              <a:rPr sz="2000" b="0">
                <a:solidFill>
                  <a:srgbClr val="8B98A9"/>
                </a:solidFill>
                <a:latin typeface="Arial"/>
              </a:rPr>
              <a:t>Tek sınır: her şey içeride kalır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B98A9"/>
                </a:solidFill>
                <a:latin typeface="Arial"/>
              </a:rPr>
              <a:t>A request goes to a local AI manager, which talks only to a model on your hardware. Nothing crosses the 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063240"/>
            <a:ext cx="9966960" cy="2468880"/>
          </a:xfrm>
          <a:prstGeom prst="roundRect">
            <a:avLst/>
          </a:prstGeom>
          <a:noFill/>
          <a:ln w="22225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13639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B98A9"/>
                </a:solidFill>
                <a:latin typeface="Arial"/>
              </a:rPr>
              <a:t>YOUR NETWORK · AĞINIZ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4069080"/>
            <a:ext cx="2468880" cy="1005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6EDF3"/>
                </a:solidFill>
                <a:latin typeface="Arial"/>
              </a:rPr>
              <a:t>Your request</a:t>
            </a:r>
          </a:p>
          <a:p>
            <a:pPr algn="ctr"/>
            <a:r>
              <a:rPr sz="1000">
                <a:solidFill>
                  <a:srgbClr val="8B98A9"/>
                </a:solidFill>
                <a:latin typeface="Arial"/>
              </a:rPr>
              <a:t>İsteğiniz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19" y="4069080"/>
            <a:ext cx="2468880" cy="1005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9D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6EDF3"/>
                </a:solidFill>
                <a:latin typeface="Arial"/>
              </a:rPr>
              <a:t>AI Manager (local)</a:t>
            </a:r>
          </a:p>
          <a:p>
            <a:pPr algn="ctr"/>
            <a:r>
              <a:rPr sz="1000">
                <a:solidFill>
                  <a:srgbClr val="8B98A9"/>
                </a:solidFill>
                <a:latin typeface="Arial"/>
              </a:rPr>
              <a:t>Yerel yönetici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4069080"/>
            <a:ext cx="2468880" cy="1005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6EDF3"/>
                </a:solidFill>
                <a:latin typeface="Arial"/>
              </a:rPr>
              <a:t>Local model</a:t>
            </a:r>
          </a:p>
          <a:p>
            <a:pPr algn="ctr"/>
            <a:r>
              <a:rPr sz="1000">
                <a:solidFill>
                  <a:srgbClr val="8B98A9"/>
                </a:solidFill>
                <a:latin typeface="Arial"/>
              </a:rPr>
              <a:t>Yerel model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23360" y="4572000.0"/>
            <a:ext cx="822959" cy="0.0"/>
          </a:xfrm>
          <a:prstGeom prst="line">
            <a:avLst/>
          </a:prstGeom>
          <a:ln w="22225">
            <a:solidFill>
              <a:srgbClr val="5B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199" y="4572000.0"/>
            <a:ext cx="822961" cy="0.0"/>
          </a:xfrm>
          <a:prstGeom prst="line">
            <a:avLst/>
          </a:prstGeom>
          <a:ln w="22225">
            <a:solidFill>
              <a:srgbClr val="5B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97280" y="5669280"/>
            <a:ext cx="9966960" cy="9525"/>
          </a:xfrm>
          <a:prstGeom prst="rect">
            <a:avLst/>
          </a:prstGeom>
          <a:solidFill>
            <a:srgbClr val="9D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715000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9D7BFF"/>
                </a:solidFill>
                <a:latin typeface="Arial"/>
              </a:rPr>
              <a:t>Nothing crosses the line · Hiçbir şey sınırı geçmez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82296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8CFF"/>
                </a:solidFill>
                <a:latin typeface="Arial"/>
              </a:rPr>
              <a:t>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B98A9"/>
                </a:solidFill>
                <a:latin typeface="Arial"/>
              </a:rPr>
              <a:t>8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B98A9"/>
                </a:solidFill>
                <a:latin typeface="Arial"/>
              </a:rPr>
              <a:t>AdOS — Enterprise AI Operating System for Advertising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Arial"/>
              </a:rPr>
              <a:t>Your data never leaves your building</a:t>
            </a:r>
          </a:p>
          <a:p>
            <a:pPr algn="l"/>
            <a:r>
              <a:rPr sz="2000" b="0">
                <a:solidFill>
                  <a:srgbClr val="8B98A9"/>
                </a:solidFill>
                <a:latin typeface="Arial"/>
              </a:rPr>
              <a:t>Verileriniz binanızdan hiç çıkmaz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383280"/>
            <a:ext cx="9966960" cy="2468880"/>
          </a:xfrm>
          <a:prstGeom prst="roundRect">
            <a:avLst/>
          </a:prstGeom>
          <a:noFill/>
          <a:ln w="22225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345643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B98A9"/>
                </a:solidFill>
                <a:latin typeface="Arial"/>
              </a:rPr>
              <a:t>YOUR NETWORK · AĞINIZ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54480" y="4389120"/>
            <a:ext cx="2468880" cy="1005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6EDF3"/>
                </a:solidFill>
                <a:latin typeface="Arial"/>
              </a:rPr>
              <a:t>Your request</a:t>
            </a:r>
          </a:p>
          <a:p>
            <a:pPr algn="ctr"/>
            <a:r>
              <a:rPr sz="1000">
                <a:solidFill>
                  <a:srgbClr val="8B98A9"/>
                </a:solidFill>
                <a:latin typeface="Arial"/>
              </a:rPr>
              <a:t>İsteğiniz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19" y="4389120"/>
            <a:ext cx="2468880" cy="1005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9D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6EDF3"/>
                </a:solidFill>
                <a:latin typeface="Arial"/>
              </a:rPr>
              <a:t>AI Manager (local)</a:t>
            </a:r>
          </a:p>
          <a:p>
            <a:pPr algn="ctr"/>
            <a:r>
              <a:rPr sz="1000">
                <a:solidFill>
                  <a:srgbClr val="8B98A9"/>
                </a:solidFill>
                <a:latin typeface="Arial"/>
              </a:rPr>
              <a:t>Yerel yönetici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4389120"/>
            <a:ext cx="2468880" cy="1005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6EDF3"/>
                </a:solidFill>
                <a:latin typeface="Arial"/>
              </a:rPr>
              <a:t>Local model</a:t>
            </a:r>
          </a:p>
          <a:p>
            <a:pPr algn="ctr"/>
            <a:r>
              <a:rPr sz="1000">
                <a:solidFill>
                  <a:srgbClr val="8B98A9"/>
                </a:solidFill>
                <a:latin typeface="Arial"/>
              </a:rPr>
              <a:t>Yerel model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23360" y="4892040.0"/>
            <a:ext cx="822959" cy="0.0"/>
          </a:xfrm>
          <a:prstGeom prst="line">
            <a:avLst/>
          </a:prstGeom>
          <a:ln w="22225">
            <a:solidFill>
              <a:srgbClr val="5B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315199" y="4892040.0"/>
            <a:ext cx="822961" cy="0.0"/>
          </a:xfrm>
          <a:prstGeom prst="line">
            <a:avLst/>
          </a:prstGeom>
          <a:ln w="22225">
            <a:solidFill>
              <a:srgbClr val="5B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97280" y="5989320"/>
            <a:ext cx="9966960" cy="9525"/>
          </a:xfrm>
          <a:prstGeom prst="rect">
            <a:avLst/>
          </a:prstGeom>
          <a:solidFill>
            <a:srgbClr val="9D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6035040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9D7BFF"/>
                </a:solidFill>
                <a:latin typeface="Arial"/>
              </a:rPr>
              <a:t>Nothing crosses the line · Hiçbir şey sınırı geçmez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974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5B8CFF"/>
                </a:solidFill>
                <a:latin typeface="Arial"/>
              </a:rPr>
              <a:t>0 data leaves your network  ·  Ağınızdan 0 veri çıkar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82296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8CFF"/>
                </a:solidFill>
                <a:latin typeface="Arial"/>
              </a:rPr>
              <a:t>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B98A9"/>
                </a:solidFill>
                <a:latin typeface="Arial"/>
              </a:rPr>
              <a:t>9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B98A9"/>
                </a:solidFill>
                <a:latin typeface="Arial"/>
              </a:rPr>
              <a:t>AdOS — Enterprise AI Operating System for Advertising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Arial"/>
              </a:rPr>
              <a:t>Security by architecture, not by promise</a:t>
            </a:r>
          </a:p>
          <a:p>
            <a:pPr algn="l"/>
            <a:r>
              <a:rPr sz="2000" b="0">
                <a:solidFill>
                  <a:srgbClr val="8B98A9"/>
                </a:solidFill>
                <a:latin typeface="Arial"/>
              </a:rPr>
              <a:t>Vaatle değil, mimariyle güvenlik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3200400"/>
            <a:ext cx="329184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/>
            <a:r>
              <a:rPr sz="1700" b="1">
                <a:solidFill>
                  <a:srgbClr val="E6EDF3"/>
                </a:solidFill>
                <a:latin typeface="Arial"/>
              </a:rPr>
              <a:t>Separation</a:t>
            </a:r>
          </a:p>
          <a:p>
            <a:r>
              <a:rPr sz="1200">
                <a:solidFill>
                  <a:srgbClr val="5B8CFF"/>
                </a:solidFill>
                <a:latin typeface="Arial"/>
              </a:rPr>
              <a:t>Ayrım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8B98A9"/>
                </a:solidFill>
                <a:latin typeface="Arial"/>
              </a:rPr>
              <a:t>Each unit's data is walled off.</a:t>
            </a:r>
          </a:p>
          <a:p>
            <a:r>
              <a:rPr sz="1100">
                <a:solidFill>
                  <a:srgbClr val="8B98A9"/>
                </a:solidFill>
                <a:latin typeface="Arial"/>
              </a:rPr>
              <a:t>Her birimin verisi ayrılmıştır.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927" y="3200400"/>
            <a:ext cx="329184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/>
            <a:r>
              <a:rPr sz="1700" b="1">
                <a:solidFill>
                  <a:srgbClr val="E6EDF3"/>
                </a:solidFill>
                <a:latin typeface="Arial"/>
              </a:rPr>
              <a:t>Protection</a:t>
            </a:r>
          </a:p>
          <a:p>
            <a:r>
              <a:rPr sz="1200">
                <a:solidFill>
                  <a:srgbClr val="5B8CFF"/>
                </a:solidFill>
                <a:latin typeface="Arial"/>
              </a:rPr>
              <a:t>Koruma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8B98A9"/>
                </a:solidFill>
                <a:latin typeface="Arial"/>
              </a:rPr>
              <a:t>Everything is encrypted and recoverable.</a:t>
            </a:r>
          </a:p>
          <a:p>
            <a:r>
              <a:rPr sz="1100">
                <a:solidFill>
                  <a:srgbClr val="8B98A9"/>
                </a:solidFill>
                <a:latin typeface="Arial"/>
              </a:rPr>
              <a:t>Her şey şifreli ve kurtarılabilir.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7527" y="3200400"/>
            <a:ext cx="329184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/>
            <a:r>
              <a:rPr sz="1700" b="1">
                <a:solidFill>
                  <a:srgbClr val="E6EDF3"/>
                </a:solidFill>
                <a:latin typeface="Arial"/>
              </a:rPr>
              <a:t>Accountability</a:t>
            </a:r>
          </a:p>
          <a:p>
            <a:r>
              <a:rPr sz="1200">
                <a:solidFill>
                  <a:srgbClr val="5B8CFF"/>
                </a:solidFill>
                <a:latin typeface="Arial"/>
              </a:rPr>
              <a:t>Hesap verebilirlik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8B98A9"/>
                </a:solidFill>
                <a:latin typeface="Arial"/>
              </a:rPr>
              <a:t>Every action is recorded.</a:t>
            </a:r>
          </a:p>
          <a:p>
            <a:r>
              <a:rPr sz="1100">
                <a:solidFill>
                  <a:srgbClr val="8B98A9"/>
                </a:solidFill>
                <a:latin typeface="Arial"/>
              </a:rPr>
              <a:t>Her eylem kaydedilir.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82296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8CFF"/>
                </a:solidFill>
                <a:latin typeface="Arial"/>
              </a:rPr>
              <a:t>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B98A9"/>
                </a:solidFill>
                <a:latin typeface="Arial"/>
              </a:rPr>
              <a:t>10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B98A9"/>
                </a:solidFill>
                <a:latin typeface="Arial"/>
              </a:rPr>
              <a:t>AdOS — Enterprise AI Operating System for Advertising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Arial"/>
              </a:rPr>
              <a:t>The work gets drafted — you approve each step</a:t>
            </a:r>
          </a:p>
          <a:p>
            <a:pPr algn="l"/>
            <a:r>
              <a:rPr sz="2000" b="0">
                <a:solidFill>
                  <a:srgbClr val="8B98A9"/>
                </a:solidFill>
                <a:latin typeface="Arial"/>
              </a:rPr>
              <a:t>İş taslaklanır — her adımı siz onaylarsınız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B98A9"/>
                </a:solidFill>
                <a:latin typeface="Arial"/>
              </a:rPr>
              <a:t>AdOS drafts each campaign through clear stages, with a human decision at every gate. AI-assisted, never unaccountable — and never launched without you.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3747" y="3383280"/>
            <a:ext cx="1965960" cy="10972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6EDF3"/>
                </a:solidFill>
                <a:latin typeface="Arial"/>
              </a:rPr>
              <a:t>Brief</a:t>
            </a:r>
          </a:p>
          <a:p>
            <a:pPr algn="ctr"/>
            <a:r>
              <a:rPr sz="1000">
                <a:solidFill>
                  <a:srgbClr val="8B98A9"/>
                </a:solidFill>
                <a:latin typeface="Arial"/>
              </a:rPr>
              <a:t>Brif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18307" y="3383280"/>
            <a:ext cx="1965960" cy="10972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6EDF3"/>
                </a:solidFill>
                <a:latin typeface="Arial"/>
              </a:rPr>
              <a:t>Creative</a:t>
            </a:r>
          </a:p>
          <a:p>
            <a:pPr algn="ctr"/>
            <a:r>
              <a:rPr sz="1000">
                <a:solidFill>
                  <a:srgbClr val="8B98A9"/>
                </a:solidFill>
                <a:latin typeface="Arial"/>
              </a:rPr>
              <a:t>Kreatif</a:t>
            </a:r>
          </a:p>
        </p:txBody>
      </p:sp>
      <p:sp>
        <p:nvSpPr>
          <p:cNvPr id="10" name="Oval 9"/>
          <p:cNvSpPr/>
          <p:nvPr/>
        </p:nvSpPr>
        <p:spPr>
          <a:xfrm>
            <a:off x="2657703" y="3785616"/>
            <a:ext cx="292608" cy="292608"/>
          </a:xfrm>
          <a:prstGeom prst="ellipse">
            <a:avLst/>
          </a:prstGeom>
          <a:solidFill>
            <a:srgbClr val="0E1116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3FB950"/>
                </a:solidFill>
                <a:latin typeface="Calibri"/>
              </a:rPr>
              <a:t>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2867" y="3383280"/>
            <a:ext cx="1965960" cy="10972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6EDF3"/>
                </a:solidFill>
                <a:latin typeface="Arial"/>
              </a:rPr>
              <a:t>Campaign</a:t>
            </a:r>
          </a:p>
          <a:p>
            <a:pPr algn="ctr"/>
            <a:r>
              <a:rPr sz="1000">
                <a:solidFill>
                  <a:srgbClr val="8B98A9"/>
                </a:solidFill>
                <a:latin typeface="Arial"/>
              </a:rPr>
              <a:t>Kampanya</a:t>
            </a:r>
          </a:p>
        </p:txBody>
      </p:sp>
      <p:sp>
        <p:nvSpPr>
          <p:cNvPr id="12" name="Oval 11"/>
          <p:cNvSpPr/>
          <p:nvPr/>
        </p:nvSpPr>
        <p:spPr>
          <a:xfrm>
            <a:off x="4852263" y="3785616"/>
            <a:ext cx="292608" cy="292608"/>
          </a:xfrm>
          <a:prstGeom prst="ellipse">
            <a:avLst/>
          </a:prstGeom>
          <a:solidFill>
            <a:srgbClr val="0E1116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3FB950"/>
                </a:solidFill>
                <a:latin typeface="Calibri"/>
              </a:rPr>
              <a:t>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07427" y="3383280"/>
            <a:ext cx="1965960" cy="10972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6EDF3"/>
                </a:solidFill>
                <a:latin typeface="Arial"/>
              </a:rPr>
              <a:t>Results</a:t>
            </a:r>
          </a:p>
          <a:p>
            <a:pPr algn="ctr"/>
            <a:r>
              <a:rPr sz="1000">
                <a:solidFill>
                  <a:srgbClr val="8B98A9"/>
                </a:solidFill>
                <a:latin typeface="Arial"/>
              </a:rPr>
              <a:t>Sonuçlar</a:t>
            </a:r>
          </a:p>
        </p:txBody>
      </p:sp>
      <p:sp>
        <p:nvSpPr>
          <p:cNvPr id="14" name="Oval 13"/>
          <p:cNvSpPr/>
          <p:nvPr/>
        </p:nvSpPr>
        <p:spPr>
          <a:xfrm>
            <a:off x="7046823" y="3785616"/>
            <a:ext cx="292608" cy="292608"/>
          </a:xfrm>
          <a:prstGeom prst="ellipse">
            <a:avLst/>
          </a:prstGeom>
          <a:solidFill>
            <a:srgbClr val="0E1116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3FB950"/>
                </a:solidFill>
                <a:latin typeface="Calibri"/>
              </a:rPr>
              <a:t>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383280"/>
            <a:ext cx="1965960" cy="10972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6EDF3"/>
                </a:solidFill>
                <a:latin typeface="Arial"/>
              </a:rPr>
              <a:t>Executive</a:t>
            </a:r>
          </a:p>
          <a:p>
            <a:pPr algn="ctr"/>
            <a:r>
              <a:rPr sz="1000">
                <a:solidFill>
                  <a:srgbClr val="8B98A9"/>
                </a:solidFill>
                <a:latin typeface="Arial"/>
              </a:rPr>
              <a:t>Yönetim</a:t>
            </a:r>
          </a:p>
        </p:txBody>
      </p:sp>
      <p:sp>
        <p:nvSpPr>
          <p:cNvPr id="16" name="Oval 15"/>
          <p:cNvSpPr/>
          <p:nvPr/>
        </p:nvSpPr>
        <p:spPr>
          <a:xfrm>
            <a:off x="9241383" y="3785616"/>
            <a:ext cx="292608" cy="292608"/>
          </a:xfrm>
          <a:prstGeom prst="ellipse">
            <a:avLst/>
          </a:prstGeom>
          <a:solidFill>
            <a:srgbClr val="0E1116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3FB950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8B98A9"/>
                </a:solidFill>
                <a:latin typeface="Arial"/>
              </a:rPr>
              <a:t>You approve every stage before the next begins · Bir sonraki adım başlamadan her aşamayı siz onaylarsınız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82296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8CFF"/>
                </a:solidFill>
                <a:latin typeface="Arial"/>
              </a:rPr>
              <a:t>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B98A9"/>
                </a:solidFill>
                <a:latin typeface="Arial"/>
              </a:rPr>
              <a:t>11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B98A9"/>
                </a:solidFill>
                <a:latin typeface="Arial"/>
              </a:rPr>
              <a:t>AdOS — Enterprise AI Operating System for Advertising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Arial"/>
              </a:rPr>
              <a:t>The Company Brain: your marketing memory</a:t>
            </a:r>
          </a:p>
          <a:p>
            <a:pPr algn="l"/>
            <a:r>
              <a:rPr sz="2000" b="0">
                <a:solidFill>
                  <a:srgbClr val="8B98A9"/>
                </a:solidFill>
                <a:latin typeface="Arial"/>
              </a:rPr>
              <a:t>Şirket Beyni: pazarlama hafızanız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6EDF3"/>
                </a:solidFill>
                <a:latin typeface="Arial"/>
              </a:rPr>
              <a:t>Every campaign, creative and result becomes shared, reusable knowledge — winning ads, channels and budgets — that grows more valuable over time and never leaves your walls.</a:t>
            </a:r>
          </a:p>
          <a:p>
            <a:pPr algn="l"/>
            <a:r>
              <a:rPr sz="800" b="0">
                <a:solidFill>
                  <a:srgbClr val="E6EDF3"/>
                </a:solidFill>
                <a:latin typeface="Arial"/>
              </a:rPr>
              <a:t/>
            </a:r>
          </a:p>
          <a:p>
            <a:pPr algn="l"/>
            <a:r>
              <a:rPr sz="1600" b="0">
                <a:solidFill>
                  <a:srgbClr val="8B98A9"/>
                </a:solidFill>
                <a:latin typeface="Arial"/>
              </a:rPr>
              <a:t>Her kampanya, kreatif ve sonuç; paylaşılan ve yeniden kullanılabilir bir bilgiye dönüşür — kazanan reklamlar, kanallar ve bütçeler — zamanla değerlenir ve asla duvarlarınızdan çıkmaz.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82296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8CFF"/>
                </a:solidFill>
                <a:latin typeface="Arial"/>
              </a:rPr>
              <a:t>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B98A9"/>
                </a:solidFill>
                <a:latin typeface="Arial"/>
              </a:rPr>
              <a:t>12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B98A9"/>
                </a:solidFill>
                <a:latin typeface="Arial"/>
              </a:rPr>
              <a:t>AdOS — Enterprise AI Operating System for Advertising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Arial"/>
              </a:rPr>
              <a:t>An AI-assisted stage at every step</a:t>
            </a:r>
          </a:p>
          <a:p>
            <a:pPr algn="l"/>
            <a:r>
              <a:rPr sz="2000" b="0">
                <a:solidFill>
                  <a:srgbClr val="8B98A9"/>
                </a:solidFill>
                <a:latin typeface="Arial"/>
              </a:rPr>
              <a:t>Her adımda yapay zekâ destekli bir aşama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6EDF3"/>
                </a:solidFill>
                <a:latin typeface="Arial"/>
              </a:rPr>
              <a:t>Brief, creative, campaign draft, report — each stage drafted by local AI within your brand voice and rules, for a human to review and approve.</a:t>
            </a:r>
          </a:p>
          <a:p>
            <a:pPr algn="l"/>
            <a:r>
              <a:rPr sz="800" b="0">
                <a:solidFill>
                  <a:srgbClr val="E6EDF3"/>
                </a:solidFill>
                <a:latin typeface="Arial"/>
              </a:rPr>
              <a:t/>
            </a:r>
          </a:p>
          <a:p>
            <a:pPr algn="l"/>
            <a:r>
              <a:rPr sz="1600" b="0">
                <a:solidFill>
                  <a:srgbClr val="8B98A9"/>
                </a:solidFill>
                <a:latin typeface="Arial"/>
              </a:rPr>
              <a:t>Özet, kreatif, kampanya taslağı, rapor — her aşama, marka sesiniz ve kurallarınız içinde yerel yapay zekâ tarafından taslaklanır; bir insan inceler ve onaylar.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82296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8CFF"/>
                </a:solidFill>
                <a:latin typeface="Arial"/>
              </a:rPr>
              <a:t>BELIEVE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B98A9"/>
                </a:solidFill>
                <a:latin typeface="Arial"/>
              </a:rPr>
              <a:t>13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B98A9"/>
                </a:solidFill>
                <a:latin typeface="Arial"/>
              </a:rPr>
              <a:t>AdOS — Enterprise AI Operating System for Advertising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Arial"/>
              </a:rPr>
              <a:t>What it does, in the real world</a:t>
            </a:r>
          </a:p>
          <a:p>
            <a:pPr algn="l"/>
            <a:r>
              <a:rPr sz="2000" b="0">
                <a:solidFill>
                  <a:srgbClr val="8B98A9"/>
                </a:solidFill>
                <a:latin typeface="Arial"/>
              </a:rPr>
              <a:t>Gerçek dünyada ne yapar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6EDF3"/>
                </a:solidFill>
                <a:latin typeface="Arial"/>
              </a:rPr>
              <a:t>Draft advertising campaigns from an objective. Generate briefs, creative and budget plans. Route approvals. Draft performance reports. Reuse what worked.</a:t>
            </a:r>
          </a:p>
          <a:p>
            <a:pPr algn="l"/>
            <a:r>
              <a:rPr sz="800" b="0">
                <a:solidFill>
                  <a:srgbClr val="E6EDF3"/>
                </a:solidFill>
                <a:latin typeface="Arial"/>
              </a:rPr>
              <a:t/>
            </a:r>
          </a:p>
          <a:p>
            <a:pPr algn="l"/>
            <a:r>
              <a:rPr sz="1600" b="0">
                <a:solidFill>
                  <a:srgbClr val="8B98A9"/>
                </a:solidFill>
                <a:latin typeface="Arial"/>
              </a:rPr>
              <a:t>Bir hedeften reklam kampanyaları taslaklayın. Özet, kreatif ve bütçe planı üretin. Onayları yönlendirin. Performans raporları hazırlayın. İşe yarayanı yeniden kullanın.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82296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8CFF"/>
                </a:solidFill>
                <a:latin typeface="Arial"/>
              </a:rPr>
              <a:t>BELIEVE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B98A9"/>
                </a:solidFill>
                <a:latin typeface="Arial"/>
              </a:rPr>
              <a:t>14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B98A9"/>
                </a:solidFill>
                <a:latin typeface="Arial"/>
              </a:rPr>
              <a:t>AdOS — Enterprise AI Operating System for Advertising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Arial"/>
              </a:rPr>
              <a:t>Built for organizations that can't compromise</a:t>
            </a:r>
          </a:p>
          <a:p>
            <a:pPr algn="l"/>
            <a:r>
              <a:rPr sz="2000" b="0">
                <a:solidFill>
                  <a:srgbClr val="8B98A9"/>
                </a:solidFill>
                <a:latin typeface="Arial"/>
              </a:rPr>
              <a:t>Ödün veremeyen kurumlar için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7" y="3200400"/>
            <a:ext cx="246888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/>
            <a:r>
              <a:rPr sz="1700" b="1">
                <a:solidFill>
                  <a:srgbClr val="E6EDF3"/>
                </a:solidFill>
                <a:latin typeface="Arial"/>
              </a:rPr>
              <a:t>Enterprises</a:t>
            </a:r>
          </a:p>
          <a:p>
            <a:r>
              <a:rPr sz="1200">
                <a:solidFill>
                  <a:srgbClr val="5B8CFF"/>
                </a:solidFill>
                <a:latin typeface="Arial"/>
              </a:rPr>
              <a:t>Kurumlar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8B98A9"/>
                </a:solidFill>
                <a:latin typeface="Arial"/>
              </a:rPr>
              <a:t/>
            </a:r>
          </a:p>
          <a:p>
            <a:r>
              <a:rPr sz="1100">
                <a:solidFill>
                  <a:srgbClr val="8B98A9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4087" y="3200400"/>
            <a:ext cx="246888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/>
            <a:r>
              <a:rPr sz="1700" b="1">
                <a:solidFill>
                  <a:srgbClr val="E6EDF3"/>
                </a:solidFill>
                <a:latin typeface="Arial"/>
              </a:rPr>
              <a:t>Public institutions</a:t>
            </a:r>
          </a:p>
          <a:p>
            <a:r>
              <a:rPr sz="1200">
                <a:solidFill>
                  <a:srgbClr val="5B8CFF"/>
                </a:solidFill>
                <a:latin typeface="Arial"/>
              </a:rPr>
              <a:t>Kamu kurumları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8B98A9"/>
                </a:solidFill>
                <a:latin typeface="Arial"/>
              </a:rPr>
              <a:t/>
            </a:r>
          </a:p>
          <a:p>
            <a:r>
              <a:rPr sz="1100">
                <a:solidFill>
                  <a:srgbClr val="8B98A9"/>
                </a:solidFill>
                <a:latin typeface="Arial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3200400"/>
            <a:ext cx="246888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/>
            <a:r>
              <a:rPr sz="1700" b="1">
                <a:solidFill>
                  <a:srgbClr val="E6EDF3"/>
                </a:solidFill>
                <a:latin typeface="Arial"/>
              </a:rPr>
              <a:t>Industrial zones (OIZ)</a:t>
            </a:r>
          </a:p>
          <a:p>
            <a:r>
              <a:rPr sz="1200">
                <a:solidFill>
                  <a:srgbClr val="5B8CFF"/>
                </a:solidFill>
                <a:latin typeface="Arial"/>
              </a:rPr>
              <a:t>Organize sanayi bölgeleri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8B98A9"/>
                </a:solidFill>
                <a:latin typeface="Arial"/>
              </a:rPr>
              <a:t/>
            </a:r>
          </a:p>
          <a:p>
            <a:r>
              <a:rPr sz="1100">
                <a:solidFill>
                  <a:srgbClr val="8B98A9"/>
                </a:solidFill>
                <a:latin typeface="Arial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13367" y="3200400"/>
            <a:ext cx="246888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/>
            <a:r>
              <a:rPr sz="1700" b="1">
                <a:solidFill>
                  <a:srgbClr val="E6EDF3"/>
                </a:solidFill>
                <a:latin typeface="Arial"/>
              </a:rPr>
              <a:t>Agencies</a:t>
            </a:r>
          </a:p>
          <a:p>
            <a:r>
              <a:rPr sz="1200">
                <a:solidFill>
                  <a:srgbClr val="5B8CFF"/>
                </a:solidFill>
                <a:latin typeface="Arial"/>
              </a:rPr>
              <a:t>Ajanslar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8B98A9"/>
                </a:solidFill>
                <a:latin typeface="Arial"/>
              </a:rPr>
              <a:t/>
            </a:r>
          </a:p>
          <a:p>
            <a:r>
              <a:rPr sz="1100">
                <a:solidFill>
                  <a:srgbClr val="8B98A9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8B98A9"/>
                </a:solidFill>
                <a:latin typeface="Arial"/>
              </a:rPr>
              <a:t>One platform can serve many organizations — each fully isolated. · Tek platform birçok kurumu hizmet verebilir — her biri tam izole.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82296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8CFF"/>
                </a:solidFill>
                <a:latin typeface="Arial"/>
              </a:rPr>
              <a:t>BELIEVE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B98A9"/>
                </a:solidFill>
                <a:latin typeface="Arial"/>
              </a:rPr>
              <a:t>15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B98A9"/>
                </a:solidFill>
                <a:latin typeface="Arial"/>
              </a:rPr>
              <a:t>AdOS — Enterprise AI Operating System for Advertising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Arial"/>
              </a:rPr>
              <a:t>The return: more output, predictable cost, no data risk</a:t>
            </a:r>
          </a:p>
          <a:p>
            <a:pPr algn="l"/>
            <a:r>
              <a:rPr sz="2000" b="0">
                <a:solidFill>
                  <a:srgbClr val="8B98A9"/>
                </a:solidFill>
                <a:latin typeface="Arial"/>
              </a:rPr>
              <a:t>Getiri: daha fazla çıktı, öngörülebilir maliyet, veri riski yok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6EDF3"/>
                </a:solidFill>
                <a:latin typeface="Arial"/>
              </a:rPr>
              <a:t>Your team produces more with the same headcount. AI costs are fixed — no per-use fees. And you take on zero data-exposure risk.</a:t>
            </a:r>
          </a:p>
          <a:p>
            <a:pPr algn="l"/>
            <a:r>
              <a:rPr sz="800" b="0">
                <a:solidFill>
                  <a:srgbClr val="E6EDF3"/>
                </a:solidFill>
                <a:latin typeface="Arial"/>
              </a:rPr>
              <a:t/>
            </a:r>
          </a:p>
          <a:p>
            <a:pPr algn="l"/>
            <a:r>
              <a:rPr sz="1600" b="0">
                <a:solidFill>
                  <a:srgbClr val="8B98A9"/>
                </a:solidFill>
                <a:latin typeface="Arial"/>
              </a:rPr>
              <a:t>Ekibiniz aynı personelle daha fazla üretir. Yapay zekâ maliyetleri sabittir — kullanım başına ücret yok. Ve sıfır veri-ifşa riski alırsınız.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82296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8CFF"/>
                </a:solidFill>
                <a:latin typeface="Arial"/>
              </a:rPr>
              <a:t>BELIEVE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B98A9"/>
                </a:solidFill>
                <a:latin typeface="Arial"/>
              </a:rPr>
              <a:t>16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B98A9"/>
                </a:solidFill>
                <a:latin typeface="Arial"/>
              </a:rPr>
              <a:t>AdOS — Enterprise AI Operating System for Advertising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Arial"/>
              </a:rPr>
              <a:t>It runs where you already run software</a:t>
            </a:r>
          </a:p>
          <a:p>
            <a:pPr algn="l"/>
            <a:r>
              <a:rPr sz="2000" b="0">
                <a:solidFill>
                  <a:srgbClr val="8B98A9"/>
                </a:solidFill>
                <a:latin typeface="Arial"/>
              </a:rPr>
              <a:t>Zaten yazılım çalıştırdığınız yerde çalışır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6EDF3"/>
                </a:solidFill>
                <a:latin typeface="Arial"/>
              </a:rPr>
              <a:t>Your data center, private cloud or on-site servers. We install and guide; you operate and own it. Open components, no lock-in.</a:t>
            </a:r>
          </a:p>
          <a:p>
            <a:pPr algn="l"/>
            <a:r>
              <a:rPr sz="800" b="0">
                <a:solidFill>
                  <a:srgbClr val="E6EDF3"/>
                </a:solidFill>
                <a:latin typeface="Arial"/>
              </a:rPr>
              <a:t/>
            </a:r>
          </a:p>
          <a:p>
            <a:pPr algn="l"/>
            <a:r>
              <a:rPr sz="1600" b="0">
                <a:solidFill>
                  <a:srgbClr val="8B98A9"/>
                </a:solidFill>
                <a:latin typeface="Arial"/>
              </a:rPr>
              <a:t>Veri merkeziniz, özel bulutunuz ya da yerinde sunucularınız. Biz kurar ve yol gösteririz; siz işletir ve sahiplenirsiniz. Açık bileşenler, bağımlılık yok.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82296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8CFF"/>
                </a:solidFill>
                <a:latin typeface="Arial"/>
              </a:rPr>
              <a:t>BELIEVE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B98A9"/>
                </a:solidFill>
                <a:latin typeface="Arial"/>
              </a:rPr>
              <a:t>17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B98A9"/>
                </a:solidFill>
                <a:latin typeface="Arial"/>
              </a:rPr>
              <a:t>AdOS — Enterprise AI Operating System for Advertising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Arial"/>
              </a:rPr>
              <a:t>See it work — locally</a:t>
            </a:r>
          </a:p>
          <a:p>
            <a:pPr algn="l"/>
            <a:r>
              <a:rPr sz="2000" b="0">
                <a:solidFill>
                  <a:srgbClr val="8B98A9"/>
                </a:solidFill>
                <a:latin typeface="Arial"/>
              </a:rPr>
              <a:t>Çalışırken görün — yerelde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2743200"/>
            <a:ext cx="8138160" cy="29260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5B8CFF"/>
                </a:solidFill>
                <a:latin typeface="Arial"/>
              </a:rPr>
              <a:t>▶  LIVE / RECORDED DEMO</a:t>
            </a:r>
          </a:p>
          <a:p>
            <a:pPr algn="ctr"/>
            <a:r>
              <a:rPr sz="1300">
                <a:solidFill>
                  <a:srgbClr val="E6EDF3"/>
                </a:solidFill>
                <a:latin typeface="Arial"/>
              </a:rPr>
              <a:t>A real campaign, produced entirely on local infrastructure, with no internet connection. Nothing you see leaves the building.</a:t>
            </a:r>
          </a:p>
          <a:p>
            <a:pPr algn="ctr"/>
            <a:r>
              <a:rPr sz="1100">
                <a:solidFill>
                  <a:srgbClr val="8B98A9"/>
                </a:solidFill>
                <a:latin typeface="Arial"/>
              </a:rPr>
              <a:t>Tamamen yerel altyapıda, internet bağlantısı olmadan üretilen gerçek bir kampanya. Gördüğünüz hiçbir şey binadan çıkmaz.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82296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8CFF"/>
                </a:solidFill>
                <a:latin typeface="Arial"/>
              </a:rPr>
              <a:t>BELIEVE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B98A9"/>
                </a:solidFill>
                <a:latin typeface="Arial"/>
              </a:rPr>
              <a:t>18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B98A9"/>
                </a:solidFill>
                <a:latin typeface="Arial"/>
              </a:rPr>
              <a:t>AdOS — Enterprise AI Operating System for Advertising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Arial"/>
              </a:rPr>
              <a:t>Everyone can generate output. Only AdOS keeps your data.</a:t>
            </a:r>
          </a:p>
          <a:p>
            <a:pPr algn="l"/>
            <a:r>
              <a:rPr sz="2000" b="0">
                <a:solidFill>
                  <a:srgbClr val="8B98A9"/>
                </a:solidFill>
                <a:latin typeface="Arial"/>
              </a:rPr>
              <a:t>Herkes çıktı üretebilir. Yalnızca AdOS verinizi korur.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B98A9"/>
                </a:solidFill>
                <a:latin typeface="Arial"/>
              </a:rPr>
              <a:t>Cloud AI tools · Bulut yapay zekâ araçları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286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Arial"/>
              </a:rPr>
              <a:t>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743200"/>
            <a:ext cx="4572000" cy="731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834640"/>
            <a:ext cx="4206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  <a:latin typeface="Arial"/>
              </a:rPr>
              <a:t>Your data: Leaves to the cloud</a:t>
            </a:r>
          </a:p>
          <a:p>
            <a:pPr algn="l"/>
            <a:r>
              <a:rPr sz="1000" b="0">
                <a:solidFill>
                  <a:srgbClr val="8B98A9"/>
                </a:solidFill>
                <a:latin typeface="Arial"/>
              </a:rPr>
              <a:t>Buluta çıkar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743200"/>
            <a:ext cx="4572000" cy="731520"/>
          </a:xfrm>
          <a:prstGeom prst="roundRect">
            <a:avLst/>
          </a:prstGeom>
          <a:solidFill>
            <a:srgbClr val="1C2230"/>
          </a:solidFill>
          <a:ln w="1905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834640"/>
            <a:ext cx="4206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  <a:latin typeface="Arial"/>
              </a:rPr>
              <a:t>Your data: Stays inside</a:t>
            </a:r>
          </a:p>
          <a:p>
            <a:pPr algn="l"/>
            <a:r>
              <a:rPr sz="1000" b="0">
                <a:solidFill>
                  <a:srgbClr val="5B8CFF"/>
                </a:solidFill>
                <a:latin typeface="Arial"/>
              </a:rPr>
              <a:t>İçeride kalır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611880"/>
            <a:ext cx="4572000" cy="731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703320"/>
            <a:ext cx="4206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  <a:latin typeface="Arial"/>
              </a:rPr>
              <a:t>Cost: Per-use fees</a:t>
            </a:r>
          </a:p>
          <a:p>
            <a:pPr algn="l"/>
            <a:r>
              <a:rPr sz="1000" b="0">
                <a:solidFill>
                  <a:srgbClr val="8B98A9"/>
                </a:solidFill>
                <a:latin typeface="Arial"/>
              </a:rPr>
              <a:t>Kullanım başına ücret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611880"/>
            <a:ext cx="4572000" cy="731520"/>
          </a:xfrm>
          <a:prstGeom prst="roundRect">
            <a:avLst/>
          </a:prstGeom>
          <a:solidFill>
            <a:srgbClr val="1C2230"/>
          </a:solidFill>
          <a:ln w="1905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703320"/>
            <a:ext cx="4206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  <a:latin typeface="Arial"/>
              </a:rPr>
              <a:t>Cost: Fixed, predictable</a:t>
            </a:r>
          </a:p>
          <a:p>
            <a:pPr algn="l"/>
            <a:r>
              <a:rPr sz="1000" b="0">
                <a:solidFill>
                  <a:srgbClr val="5B8CFF"/>
                </a:solidFill>
                <a:latin typeface="Arial"/>
              </a:rPr>
              <a:t>Sabit, öngörülebilir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480560"/>
            <a:ext cx="4572000" cy="731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4572000"/>
            <a:ext cx="4206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  <a:latin typeface="Arial"/>
              </a:rPr>
              <a:t>Control: Vendor's terms</a:t>
            </a:r>
          </a:p>
          <a:p>
            <a:pPr algn="l"/>
            <a:r>
              <a:rPr sz="1000" b="0">
                <a:solidFill>
                  <a:srgbClr val="8B98A9"/>
                </a:solidFill>
                <a:latin typeface="Arial"/>
              </a:rPr>
              <a:t>Tedarikçinin koşulları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480560"/>
            <a:ext cx="4572000" cy="731520"/>
          </a:xfrm>
          <a:prstGeom prst="roundRect">
            <a:avLst/>
          </a:prstGeom>
          <a:solidFill>
            <a:srgbClr val="1C2230"/>
          </a:solidFill>
          <a:ln w="1905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572000"/>
            <a:ext cx="4206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  <a:latin typeface="Arial"/>
              </a:rPr>
              <a:t>Control: You own it</a:t>
            </a:r>
          </a:p>
          <a:p>
            <a:pPr algn="l"/>
            <a:r>
              <a:rPr sz="1000" b="0">
                <a:solidFill>
                  <a:srgbClr val="5B8CFF"/>
                </a:solidFill>
                <a:latin typeface="Arial"/>
              </a:rPr>
              <a:t>Size ait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5349240"/>
            <a:ext cx="4572000" cy="731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5440680"/>
            <a:ext cx="4206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  <a:latin typeface="Arial"/>
              </a:rPr>
              <a:t>Compliance: Exposure</a:t>
            </a:r>
          </a:p>
          <a:p>
            <a:pPr algn="l"/>
            <a:r>
              <a:rPr sz="1000" b="0">
                <a:solidFill>
                  <a:srgbClr val="8B98A9"/>
                </a:solidFill>
                <a:latin typeface="Arial"/>
              </a:rPr>
              <a:t>Risk altında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5349240"/>
            <a:ext cx="4572000" cy="731520"/>
          </a:xfrm>
          <a:prstGeom prst="roundRect">
            <a:avLst/>
          </a:prstGeom>
          <a:solidFill>
            <a:srgbClr val="1C2230"/>
          </a:solidFill>
          <a:ln w="1905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5440680"/>
            <a:ext cx="4206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  <a:latin typeface="Arial"/>
              </a:rPr>
              <a:t>Compliance: By design</a:t>
            </a:r>
          </a:p>
          <a:p>
            <a:pPr algn="l"/>
            <a:r>
              <a:rPr sz="1000" b="0">
                <a:solidFill>
                  <a:srgbClr val="5B8CFF"/>
                </a:solidFill>
                <a:latin typeface="Arial"/>
              </a:rPr>
              <a:t>Tasarımdan gelir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82296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8CFF"/>
                </a:solidFill>
                <a:latin typeface="Arial"/>
              </a:rPr>
              <a:t>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B98A9"/>
                </a:solidFill>
                <a:latin typeface="Arial"/>
              </a:rPr>
              <a:t>19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B98A9"/>
                </a:solidFill>
                <a:latin typeface="Arial"/>
              </a:rPr>
              <a:t>AdOS — Enterprise AI Operating System for Advertising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Arial"/>
              </a:rPr>
              <a:t>A staged, low-risk path</a:t>
            </a:r>
          </a:p>
          <a:p>
            <a:pPr algn="l"/>
            <a:r>
              <a:rPr sz="2000" b="0">
                <a:solidFill>
                  <a:srgbClr val="8B98A9"/>
                </a:solidFill>
                <a:latin typeface="Arial"/>
              </a:rPr>
              <a:t>Aşamalı, düşük riskli bir yol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6EDF3"/>
                </a:solidFill>
                <a:latin typeface="Arial"/>
              </a:rPr>
              <a:t>Pilot on your infrastructure → prove value on your data → roll out → compounding advantage as your knowledge grows.</a:t>
            </a:r>
          </a:p>
          <a:p>
            <a:pPr algn="l"/>
            <a:r>
              <a:rPr sz="800" b="0">
                <a:solidFill>
                  <a:srgbClr val="E6EDF3"/>
                </a:solidFill>
                <a:latin typeface="Arial"/>
              </a:rPr>
              <a:t/>
            </a:r>
          </a:p>
          <a:p>
            <a:pPr algn="l"/>
            <a:r>
              <a:rPr sz="1600" b="0">
                <a:solidFill>
                  <a:srgbClr val="8B98A9"/>
                </a:solidFill>
                <a:latin typeface="Arial"/>
              </a:rPr>
              <a:t>Altyapınızda pilot → verinizde değeri kanıtla → yaygınlaştır → bilginiz büyüdükçe bileşik avantaj.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82296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8CFF"/>
                </a:solidFill>
                <a:latin typeface="Arial"/>
              </a:rPr>
              <a:t>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B98A9"/>
                </a:solidFill>
                <a:latin typeface="Arial"/>
              </a:rPr>
              <a:t>20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B98A9"/>
                </a:solidFill>
                <a:latin typeface="Arial"/>
              </a:rPr>
              <a:t>AdOS — Enterprise AI Operating System for Advertising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Arial"/>
              </a:rPr>
              <a:t>In one picture</a:t>
            </a:r>
          </a:p>
          <a:p>
            <a:pPr algn="l"/>
            <a:r>
              <a:rPr sz="2000" b="0">
                <a:solidFill>
                  <a:srgbClr val="8B98A9"/>
                </a:solidFill>
                <a:latin typeface="Arial"/>
              </a:rPr>
              <a:t>Tek bir resimde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6EDF3"/>
                </a:solidFill>
                <a:latin typeface="Arial"/>
              </a:rPr>
              <a:t>Modern AI for advertising, running entirely on your infrastructure, under your control, with your data never leaving your building.</a:t>
            </a:r>
          </a:p>
          <a:p>
            <a:pPr algn="l"/>
            <a:r>
              <a:rPr sz="800" b="0">
                <a:solidFill>
                  <a:srgbClr val="E6EDF3"/>
                </a:solidFill>
                <a:latin typeface="Arial"/>
              </a:rPr>
              <a:t/>
            </a:r>
          </a:p>
          <a:p>
            <a:pPr algn="l"/>
            <a:r>
              <a:rPr sz="1600" b="0">
                <a:solidFill>
                  <a:srgbClr val="8B98A9"/>
                </a:solidFill>
                <a:latin typeface="Arial"/>
              </a:rPr>
              <a:t>Reklam için modern yapay zekâ; tamamen altyapınızda, kontrolünüzde çalışan, verileriniz binanızdan hiç çıkmadan.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82296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8CFF"/>
                </a:solidFill>
                <a:latin typeface="Arial"/>
              </a:rPr>
              <a:t>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B98A9"/>
                </a:solidFill>
                <a:latin typeface="Arial"/>
              </a:rPr>
              <a:t>21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B98A9"/>
                </a:solidFill>
                <a:latin typeface="Arial"/>
              </a:rPr>
              <a:t>AdOS — Enterprise AI Operating System for Advertising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Arial"/>
              </a:rPr>
              <a:t>Let's run a pilot on your infrastructure</a:t>
            </a:r>
          </a:p>
          <a:p>
            <a:pPr algn="l"/>
            <a:r>
              <a:rPr sz="2000" b="0">
                <a:solidFill>
                  <a:srgbClr val="8B98A9"/>
                </a:solidFill>
                <a:latin typeface="Arial"/>
              </a:rPr>
              <a:t>Altyapınızda bir pilot yürütelim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6EDF3"/>
                </a:solidFill>
                <a:latin typeface="Arial"/>
              </a:rPr>
              <a:t>A scoped pilot, on your own hardware, guided by us — prove every point with your own data staying inside.</a:t>
            </a:r>
          </a:p>
          <a:p>
            <a:pPr algn="l"/>
            <a:r>
              <a:rPr sz="1400" b="0">
                <a:solidFill>
                  <a:srgbClr val="8B98A9"/>
                </a:solidFill>
                <a:latin typeface="Arial"/>
              </a:rPr>
              <a:t>Kapsamı belirli bir pilot, kendi donanımınızda, bizim rehberliğimizde — her noktayı, kendi veriniz içeride kalarak kanıtlayın.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206240"/>
            <a:ext cx="9966960" cy="2468880"/>
          </a:xfrm>
          <a:prstGeom prst="roundRect">
            <a:avLst/>
          </a:prstGeom>
          <a:noFill/>
          <a:ln w="22225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427939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B98A9"/>
                </a:solidFill>
                <a:latin typeface="Arial"/>
              </a:rPr>
              <a:t>YOUR NETWORK · AĞINIZ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5212080"/>
            <a:ext cx="2468880" cy="1005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6EDF3"/>
                </a:solidFill>
                <a:latin typeface="Arial"/>
              </a:rPr>
              <a:t>Your request</a:t>
            </a:r>
          </a:p>
          <a:p>
            <a:pPr algn="ctr"/>
            <a:r>
              <a:rPr sz="1000">
                <a:solidFill>
                  <a:srgbClr val="8B98A9"/>
                </a:solidFill>
                <a:latin typeface="Arial"/>
              </a:rPr>
              <a:t>İsteğiniz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19" y="5212080"/>
            <a:ext cx="2468880" cy="1005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9D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6EDF3"/>
                </a:solidFill>
                <a:latin typeface="Arial"/>
              </a:rPr>
              <a:t>AI Manager (local)</a:t>
            </a:r>
          </a:p>
          <a:p>
            <a:pPr algn="ctr"/>
            <a:r>
              <a:rPr sz="1000">
                <a:solidFill>
                  <a:srgbClr val="8B98A9"/>
                </a:solidFill>
                <a:latin typeface="Arial"/>
              </a:rPr>
              <a:t>Yerel yönetici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5212080"/>
            <a:ext cx="2468880" cy="1005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6EDF3"/>
                </a:solidFill>
                <a:latin typeface="Arial"/>
              </a:rPr>
              <a:t>Local model</a:t>
            </a:r>
          </a:p>
          <a:p>
            <a:pPr algn="ctr"/>
            <a:r>
              <a:rPr sz="1000">
                <a:solidFill>
                  <a:srgbClr val="8B98A9"/>
                </a:solidFill>
                <a:latin typeface="Arial"/>
              </a:rPr>
              <a:t>Yerel model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23360" y="5715000.0"/>
            <a:ext cx="822959" cy="0.0"/>
          </a:xfrm>
          <a:prstGeom prst="line">
            <a:avLst/>
          </a:prstGeom>
          <a:ln w="22225">
            <a:solidFill>
              <a:srgbClr val="5B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199" y="5715000.0"/>
            <a:ext cx="822961" cy="0.0"/>
          </a:xfrm>
          <a:prstGeom prst="line">
            <a:avLst/>
          </a:prstGeom>
          <a:ln w="22225">
            <a:solidFill>
              <a:srgbClr val="5B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97280" y="6812280"/>
            <a:ext cx="9966960" cy="9525"/>
          </a:xfrm>
          <a:prstGeom prst="rect">
            <a:avLst/>
          </a:prstGeom>
          <a:solidFill>
            <a:srgbClr val="9D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858000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9D7BFF"/>
                </a:solidFill>
                <a:latin typeface="Arial"/>
              </a:rPr>
              <a:t>Nothing crosses the line · Hiçbir şey sınırı geçmez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94960" y="2103120"/>
            <a:ext cx="1371600" cy="13716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41264" y="2148840"/>
            <a:ext cx="1097280" cy="1097280"/>
          </a:xfrm>
          <a:prstGeom prst="round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2900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E6EDF3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434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B8CFF"/>
                </a:solidFill>
                <a:latin typeface="Arial"/>
              </a:rPr>
              <a:t>AdOS — Enterprise AI Operating System for Advertising</a:t>
            </a:r>
          </a:p>
          <a:p>
            <a:pPr algn="ctr"/>
            <a:r>
              <a:rPr sz="1600" b="0">
                <a:solidFill>
                  <a:srgbClr val="8B98A9"/>
                </a:solidFill>
                <a:latin typeface="Arial"/>
              </a:rPr>
              <a:t>AdOS — Reklam için Kurumsal Yapay Zekâ İşletim Sistemi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2120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E6EDF3"/>
                </a:solidFill>
                <a:latin typeface="Arial"/>
              </a:rPr>
              <a:t>The AI comes to your data — never the other way around.</a:t>
            </a:r>
          </a:p>
          <a:p>
            <a:pPr algn="ctr"/>
            <a:r>
              <a:rPr sz="1400" b="0">
                <a:solidFill>
                  <a:srgbClr val="8B98A9"/>
                </a:solidFill>
                <a:latin typeface="Arial"/>
              </a:rPr>
              <a:t>Yapay zekâ verinize gelir — asla tersi değil.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B98A9"/>
                </a:solidFill>
                <a:latin typeface="Arial"/>
              </a:rPr>
              <a:t>100% local · No cloud · No API keys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