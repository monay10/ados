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94960" y="2103120"/>
            <a:ext cx="1371600" cy="13716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41264" y="2148840"/>
            <a:ext cx="1097280" cy="109728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E6EDF3"/>
                </a:solidFill>
                <a:latin typeface="Arial"/>
              </a:rPr>
              <a:t>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8CFF"/>
                </a:solidFill>
                <a:latin typeface="Arial"/>
              </a:rPr>
              <a:t>The Advertising Operating System</a:t>
            </a:r>
          </a:p>
          <a:p>
            <a:pPr algn="ctr"/>
            <a:r>
              <a:rPr sz="1600" b="0">
                <a:solidFill>
                  <a:srgbClr val="8B98A9"/>
                </a:solidFill>
                <a:latin typeface="Arial"/>
              </a:rPr>
              <a:t>Reklam İşletim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6EDF3"/>
                </a:solidFill>
                <a:latin typeface="Arial"/>
              </a:rPr>
              <a:t>Enterprise AI that never leaves your building.</a:t>
            </a:r>
          </a:p>
          <a:p>
            <a:pPr algn="ctr"/>
            <a:r>
              <a:rPr sz="1400" b="0">
                <a:solidFill>
                  <a:srgbClr val="8B98A9"/>
                </a:solidFill>
                <a:latin typeface="Arial"/>
              </a:rPr>
              <a:t>Binanızdan hiç çıkmayan kurumsal yapay zekâ.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100% local · No cloud · No API keys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WORLD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The problems every organization faces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Her kurumun karşılaştığı sorunlar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Work is slow. Knowledge is scattered. Approvals wait on busy people. And AI promises help — at the price of your data.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İşler yavaş. Bilgi dağınık. Onaylar meşgul kişileri bekliyor. Yapay zekâ yardım vaat ediyor — verilerinizi karşılığında isteyerek.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WORLD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3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Digital transformation is changing shape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Dijital dönüşüm biçim değiştiriyor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You digitized your processes. The next step is intelligence — systems that understand your business and do the work, on your terms.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Süreçlerinizi dijitalleştirdiniz. Sıradaki adım zekâ — işinizi anlayan ve işi yapan sistemler, sizin koşullarınızda.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WORLD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Your most valuable asset walks out daily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En değerli varlığınız her gün çıkıyor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Experience retires. Documents get lost. Every departure takes knowledge with it. What if your organization could remember everything it learned?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Deneyim emekli oluyor. Belgeler kayboluyor. Her ayrılış bilgiyi götürüyor. Ya kurumunuz öğrendiği her şeyi hatırlayabilseydi?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WORLD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AI is inevitable. The risk is where it runs.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Yapay zekâ kaçınılmaz. Risk, nerede çalıştığında.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The question is no longer whether to adopt AI — it's whether you adopt it safely, with your data under your control.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Soru artık yapay zekâyı benimseyip benimsememek değil — onu güvenle, verileriniz kontrolünüzde benimseyip benimsemediğiniz.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Local AI: the intelligence comes to your data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Yerel yapay zekâ: zekâ verinize gelir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The AI models run on your own computers. No cloud. No API keys. Your information never goes to anyone else.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Yapay zekâ modelleri kendi bilgisayarlarınızda çalışır. Bulut yok. API anahtarı yok. Bilgileriniz asla başkasına gitmez.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One boundary: everything stays inside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Tek sınır: her şey içeride kalır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B98A9"/>
                </a:solidFill>
                <a:latin typeface="Arial"/>
              </a:rPr>
              <a:t>A request goes to a local AI manager, which talks only to a model on your hardware. Nothing crosses the 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063240"/>
            <a:ext cx="9966960" cy="2468880"/>
          </a:xfrm>
          <a:prstGeom prst="roundRect">
            <a:avLst/>
          </a:prstGeom>
          <a:noFill/>
          <a:ln w="222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13639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B98A9"/>
                </a:solidFill>
                <a:latin typeface="Arial"/>
              </a:rPr>
              <a:t>YOUR NETWORK · AĞINIZ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406908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Your request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İsteğiniz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19" y="406908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9D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AI Manager (local)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Yerel yönetici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06908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Local model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Yerel model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23360" y="4572000.0"/>
            <a:ext cx="822959" cy="0.0"/>
          </a:xfrm>
          <a:prstGeom prst="line">
            <a:avLst/>
          </a:prstGeom>
          <a:ln w="22225">
            <a:solidFill>
              <a:srgbClr val="5B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199" y="4572000.0"/>
            <a:ext cx="822961" cy="0.0"/>
          </a:xfrm>
          <a:prstGeom prst="line">
            <a:avLst/>
          </a:prstGeom>
          <a:ln w="22225">
            <a:solidFill>
              <a:srgbClr val="5B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5669280"/>
            <a:ext cx="9966960" cy="9525"/>
          </a:xfrm>
          <a:prstGeom prst="rect">
            <a:avLst/>
          </a:prstGeom>
          <a:solidFill>
            <a:srgbClr val="9D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71500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D7BFF"/>
                </a:solidFill>
                <a:latin typeface="Arial"/>
              </a:rPr>
              <a:t>Nothing crosses the line · Hiçbir şey sınırı geçmez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8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Your data never leaves your building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Verileriniz binanızdan hiç çıkmaz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383280"/>
            <a:ext cx="9966960" cy="2468880"/>
          </a:xfrm>
          <a:prstGeom prst="roundRect">
            <a:avLst/>
          </a:prstGeom>
          <a:noFill/>
          <a:ln w="222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45643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B98A9"/>
                </a:solidFill>
                <a:latin typeface="Arial"/>
              </a:rPr>
              <a:t>YOUR NETWORK · AĞINIZ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438912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Your request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İsteğiniz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19" y="438912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9D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AI Manager (local)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Yerel yönetici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38912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Local model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Yerel model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23360" y="4892040.0"/>
            <a:ext cx="822959" cy="0.0"/>
          </a:xfrm>
          <a:prstGeom prst="line">
            <a:avLst/>
          </a:prstGeom>
          <a:ln w="22225">
            <a:solidFill>
              <a:srgbClr val="5B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15199" y="4892040.0"/>
            <a:ext cx="822961" cy="0.0"/>
          </a:xfrm>
          <a:prstGeom prst="line">
            <a:avLst/>
          </a:prstGeom>
          <a:ln w="22225">
            <a:solidFill>
              <a:srgbClr val="5B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097280" y="5989320"/>
            <a:ext cx="9966960" cy="9525"/>
          </a:xfrm>
          <a:prstGeom prst="rect">
            <a:avLst/>
          </a:prstGeom>
          <a:solidFill>
            <a:srgbClr val="9D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603504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D7BFF"/>
                </a:solidFill>
                <a:latin typeface="Arial"/>
              </a:rPr>
              <a:t>Nothing crosses the line · Hiçbir şey sınırı geçmez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97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5B8CFF"/>
                </a:solidFill>
                <a:latin typeface="Arial"/>
              </a:rPr>
              <a:t>0 data leaves your network  ·  Ağınızdan 0 veri çıkar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Security by architecture, not by promise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Vaatle değil, mimariyle güvenlik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3200400"/>
            <a:ext cx="329184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Separation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Ayrım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>Each unit's data is walled off.</a:t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>Her birimin verisi ayrılmıştır.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200400"/>
            <a:ext cx="329184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Protection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Koruma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>Everything is encrypted and recoverable.</a:t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>Her şey şifreli ve kurtarılabilir.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3200400"/>
            <a:ext cx="329184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Accountability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Hesap verebilirlik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>Every action is recorded.</a:t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>Her eylem kaydedilir.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The work gets done — you approve each step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İş yapılır — her adımı siz onaylarsınız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B98A9"/>
                </a:solidFill>
                <a:latin typeface="Arial"/>
              </a:rPr>
              <a:t>AdOS moves work through clear stages, with a human decision at each gate. Autonomous, but never unaccountable.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747" y="3383280"/>
            <a:ext cx="1965960" cy="10972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Brief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Brif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8307" y="3383280"/>
            <a:ext cx="1965960" cy="10972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Creative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Kreatif</a:t>
            </a:r>
          </a:p>
        </p:txBody>
      </p:sp>
      <p:sp>
        <p:nvSpPr>
          <p:cNvPr id="10" name="Oval 9"/>
          <p:cNvSpPr/>
          <p:nvPr/>
        </p:nvSpPr>
        <p:spPr>
          <a:xfrm>
            <a:off x="2657703" y="3785616"/>
            <a:ext cx="292608" cy="292608"/>
          </a:xfrm>
          <a:prstGeom prst="ellipse">
            <a:avLst/>
          </a:prstGeom>
          <a:solidFill>
            <a:srgbClr val="0E1116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FB950"/>
                </a:solidFill>
                <a:latin typeface="Calibri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2867" y="3383280"/>
            <a:ext cx="1965960" cy="10972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Campaign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Kampanya</a:t>
            </a:r>
          </a:p>
        </p:txBody>
      </p:sp>
      <p:sp>
        <p:nvSpPr>
          <p:cNvPr id="12" name="Oval 11"/>
          <p:cNvSpPr/>
          <p:nvPr/>
        </p:nvSpPr>
        <p:spPr>
          <a:xfrm>
            <a:off x="4852263" y="3785616"/>
            <a:ext cx="292608" cy="292608"/>
          </a:xfrm>
          <a:prstGeom prst="ellipse">
            <a:avLst/>
          </a:prstGeom>
          <a:solidFill>
            <a:srgbClr val="0E1116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FB950"/>
                </a:solidFill>
                <a:latin typeface="Calibri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7427" y="3383280"/>
            <a:ext cx="1965960" cy="10972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Results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Sonuçlar</a:t>
            </a:r>
          </a:p>
        </p:txBody>
      </p:sp>
      <p:sp>
        <p:nvSpPr>
          <p:cNvPr id="14" name="Oval 13"/>
          <p:cNvSpPr/>
          <p:nvPr/>
        </p:nvSpPr>
        <p:spPr>
          <a:xfrm>
            <a:off x="7046823" y="3785616"/>
            <a:ext cx="292608" cy="292608"/>
          </a:xfrm>
          <a:prstGeom prst="ellipse">
            <a:avLst/>
          </a:prstGeom>
          <a:solidFill>
            <a:srgbClr val="0E1116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FB950"/>
                </a:solidFill>
                <a:latin typeface="Calibri"/>
              </a:rP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383280"/>
            <a:ext cx="1965960" cy="10972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Executive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Yönetim</a:t>
            </a:r>
          </a:p>
        </p:txBody>
      </p:sp>
      <p:sp>
        <p:nvSpPr>
          <p:cNvPr id="16" name="Oval 15"/>
          <p:cNvSpPr/>
          <p:nvPr/>
        </p:nvSpPr>
        <p:spPr>
          <a:xfrm>
            <a:off x="9241383" y="3785616"/>
            <a:ext cx="292608" cy="292608"/>
          </a:xfrm>
          <a:prstGeom prst="ellipse">
            <a:avLst/>
          </a:prstGeom>
          <a:solidFill>
            <a:srgbClr val="0E1116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FB950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B98A9"/>
                </a:solidFill>
                <a:latin typeface="Arial"/>
              </a:rPr>
              <a:t>You approve every stage before the next begins · Bir sonraki adım başlamadan her aşamayı siz onaylarsınız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The Company Brain: your living memory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Şirket Beyni: yaşayan hafızanız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Every document, decision and outcome becomes shared, searchable knowledge that grows more valuable over time — and never leaves your walls.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Her belge, karar ve sonuç; zamanla değerlenen, paylaşılan ve aranabilir bir bilgiye dönüşür — ve asla duvarlarınızdan çıkmaz.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Digital Employees for every department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Her departman için Dijital Çalışanlar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Specialized assistants — HR, Finance, Quality, Maintenance and more — that know your policies and help your people, within clear limits.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Uzmanlaşmış asistanlar — İK, Finans, Kalite, Bakım ve daha fazlası — politikalarınızı bilen ve net sınırlar içinde yardım eden.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BELIEVE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13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What it does, in the real world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Gerçek dünyada ne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Run advertising campaigns. Answer policy questions instantly. Route approvals. Draft reports. Find the right document in seconds.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Reklam kampanyaları yürütün. Politika sorularını anında yanıtlayın. Onayları yönlendirin. Rapor hazırlayın. Doğru belgeyi saniyeler içinde bulun.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BELIEVE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Built for organizations that can't compromise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Ödün veremeyen kurumlar için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447" y="3200400"/>
            <a:ext cx="246888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Enterprises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Kurumlar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/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4087" y="3200400"/>
            <a:ext cx="246888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Public institutions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Kamu kurumları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/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3200400"/>
            <a:ext cx="246888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Industrial zones (OIZ)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Organize sanayi bölgeleri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/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13367" y="3200400"/>
            <a:ext cx="2468880" cy="21945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1700" b="1">
                <a:solidFill>
                  <a:srgbClr val="E6EDF3"/>
                </a:solidFill>
                <a:latin typeface="Arial"/>
              </a:rPr>
              <a:t>Agencies</a:t>
            </a:r>
          </a:p>
          <a:p>
            <a:r>
              <a:rPr sz="1200">
                <a:solidFill>
                  <a:srgbClr val="5B8CFF"/>
                </a:solidFill>
                <a:latin typeface="Arial"/>
              </a:rPr>
              <a:t>Ajanslar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8B98A9"/>
                </a:solidFill>
                <a:latin typeface="Arial"/>
              </a:rPr>
              <a:t/>
            </a:r>
          </a:p>
          <a:p>
            <a:r>
              <a:rPr sz="1100">
                <a:solidFill>
                  <a:srgbClr val="8B98A9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B98A9"/>
                </a:solidFill>
                <a:latin typeface="Arial"/>
              </a:rPr>
              <a:t>One platform can serve many organizations — each fully isolated. · Tek platform birçok kurumu hizmet verebilir — her biri tam izole.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BELIEVE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The return: more output, predictable cost, no data risk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Getiri: daha fazla çıktı, öngörülebilir maliyet, veri riski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Your team produces more with the same headcount. AI costs are fixed — no per-use fees. And you take on zero data-exposure risk.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Ekibiniz aynı personelle daha fazla üretir. Yapay zekâ maliyetleri sabittir — kullanım başına ücret yok. Ve sıfır veri-ifşa riski alırsınız.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BELIEVE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It runs where you already run software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Zaten yazılım çalıştırdığınız yerde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Your data center, private cloud or on-site servers. We install and guide; you operate and own it. Open components, no lock-in.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Veri merkeziniz, özel bulutunuz ya da yerinde sunucularınız. Biz kurar ve yol gösteririz; siz işletir ve sahiplenirsiniz. Açık bileşenler, bağımlılık yok.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BELIEVE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See it work — locally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Çalışırken görün — yerelde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2743200"/>
            <a:ext cx="8138160" cy="29260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5B8CFF"/>
                </a:solidFill>
                <a:latin typeface="Arial"/>
              </a:rPr>
              <a:t>▶  LIVE / RECORDED DEMO</a:t>
            </a:r>
          </a:p>
          <a:p>
            <a:pPr algn="ctr"/>
            <a:r>
              <a:rPr sz="1300">
                <a:solidFill>
                  <a:srgbClr val="E6EDF3"/>
                </a:solidFill>
                <a:latin typeface="Arial"/>
              </a:rPr>
              <a:t>A real campaign, produced entirely on local infrastructure, with no internet connection. Nothing you see leaves the building.</a:t>
            </a:r>
          </a:p>
          <a:p>
            <a:pPr algn="ctr"/>
            <a:r>
              <a:rPr sz="1100">
                <a:solidFill>
                  <a:srgbClr val="8B98A9"/>
                </a:solidFill>
                <a:latin typeface="Arial"/>
              </a:rPr>
              <a:t>Tamamen yerel altyapıda, internet bağlantısı olmadan üretilen gerçek bir kampanya. Gördüğünüz hiçbir şey binadan çıkmaz.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BELIEVE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18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Everyone can generate output. Only AdOS keeps your data.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Herkes çıktı üretebilir. Yalnızca AdOS verinizi korur.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B98A9"/>
                </a:solidFill>
                <a:latin typeface="Arial"/>
              </a:rPr>
              <a:t>Cloud AI tools · Bulut yapay zekâ araçları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B8CFF"/>
                </a:solidFill>
                <a:latin typeface="Arial"/>
              </a:rPr>
              <a:t>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4572000" cy="731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83464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Arial"/>
              </a:rPr>
              <a:t>Your data: Leaves to the cloud</a:t>
            </a:r>
          </a:p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Buluta çıkar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43200"/>
            <a:ext cx="4572000" cy="731520"/>
          </a:xfrm>
          <a:prstGeom prst="roundRect">
            <a:avLst/>
          </a:prstGeom>
          <a:solidFill>
            <a:srgbClr val="1C2230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83464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Arial"/>
              </a:rPr>
              <a:t>Your data: Stays inside</a:t>
            </a:r>
          </a:p>
          <a:p>
            <a:pPr algn="l"/>
            <a:r>
              <a:rPr sz="1000" b="0">
                <a:solidFill>
                  <a:srgbClr val="5B8CFF"/>
                </a:solidFill>
                <a:latin typeface="Arial"/>
              </a:rPr>
              <a:t>İçeride kalır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611880"/>
            <a:ext cx="4572000" cy="731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70332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Arial"/>
              </a:rPr>
              <a:t>Cost: Per-use fees</a:t>
            </a:r>
          </a:p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Kullanım başına ücret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611880"/>
            <a:ext cx="4572000" cy="731520"/>
          </a:xfrm>
          <a:prstGeom prst="roundRect">
            <a:avLst/>
          </a:prstGeom>
          <a:solidFill>
            <a:srgbClr val="1C2230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0332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Arial"/>
              </a:rPr>
              <a:t>Cost: Fixed, predictable</a:t>
            </a:r>
          </a:p>
          <a:p>
            <a:pPr algn="l"/>
            <a:r>
              <a:rPr sz="1000" b="0">
                <a:solidFill>
                  <a:srgbClr val="5B8CFF"/>
                </a:solidFill>
                <a:latin typeface="Arial"/>
              </a:rPr>
              <a:t>Sabit, öngörülebilir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480560"/>
            <a:ext cx="4572000" cy="731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Arial"/>
              </a:rPr>
              <a:t>Control: Vendor's terms</a:t>
            </a:r>
          </a:p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Tedarikçinin koşulları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480560"/>
            <a:ext cx="4572000" cy="731520"/>
          </a:xfrm>
          <a:prstGeom prst="roundRect">
            <a:avLst/>
          </a:prstGeom>
          <a:solidFill>
            <a:srgbClr val="1C2230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57200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Arial"/>
              </a:rPr>
              <a:t>Control: You own it</a:t>
            </a:r>
          </a:p>
          <a:p>
            <a:pPr algn="l"/>
            <a:r>
              <a:rPr sz="1000" b="0">
                <a:solidFill>
                  <a:srgbClr val="5B8CFF"/>
                </a:solidFill>
                <a:latin typeface="Arial"/>
              </a:rPr>
              <a:t>Size ait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349240"/>
            <a:ext cx="4572000" cy="731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544068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Arial"/>
              </a:rPr>
              <a:t>Compliance: Exposure</a:t>
            </a:r>
          </a:p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Risk altında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5349240"/>
            <a:ext cx="4572000" cy="731520"/>
          </a:xfrm>
          <a:prstGeom prst="roundRect">
            <a:avLst/>
          </a:prstGeom>
          <a:solidFill>
            <a:srgbClr val="1C2230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5440680"/>
            <a:ext cx="4206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Arial"/>
              </a:rPr>
              <a:t>Compliance: By design</a:t>
            </a:r>
          </a:p>
          <a:p>
            <a:pPr algn="l"/>
            <a:r>
              <a:rPr sz="1000" b="0">
                <a:solidFill>
                  <a:srgbClr val="5B8CFF"/>
                </a:solidFill>
                <a:latin typeface="Arial"/>
              </a:rPr>
              <a:t>Tasarımdan gelir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A staged, low-risk path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Aşamalı, düşük riskli bir yol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Pilot on your infrastructure → prove value on your data → roll out → compounding advantage as your knowledge grows.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Altyapınızda pilot → verinizde değeri kanıtla → yaygınlaştır → bilginiz büyüdükçe bileşik avantaj.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20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In one picture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Tek bir resimde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Arial"/>
              </a:rPr>
              <a:t>Modern AI for advertising and enterprise knowledge, running entirely on your infrastructure, under your control, with your data never leaving your building.</a:t>
            </a:r>
          </a:p>
          <a:p>
            <a:pPr algn="l"/>
            <a:r>
              <a:rPr sz="800" b="0">
                <a:solidFill>
                  <a:srgbClr val="E6EDF3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8B98A9"/>
                </a:solidFill>
                <a:latin typeface="Arial"/>
              </a:rPr>
              <a:t>Reklam ve kurumsal bilgi için modern yapay zekâ; tamamen altyapınızda, kontrolünüzde çalışan, verileriniz binanızdan hiç çıkmadan.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82296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Arial"/>
              </a:rPr>
              <a:t>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B98A9"/>
                </a:solidFill>
                <a:latin typeface="Arial"/>
              </a:rPr>
              <a:t>21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AdOS — The Advertising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E6EDF3"/>
                </a:solidFill>
                <a:latin typeface="Arial"/>
              </a:rPr>
              <a:t>Let's run a pilot on your infrastructure</a:t>
            </a:r>
          </a:p>
          <a:p>
            <a:pPr algn="l"/>
            <a:r>
              <a:rPr sz="2000" b="0">
                <a:solidFill>
                  <a:srgbClr val="8B98A9"/>
                </a:solidFill>
                <a:latin typeface="Arial"/>
              </a:rPr>
              <a:t>Altyapınızda bir pilot yürütelim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  <a:latin typeface="Arial"/>
              </a:rPr>
              <a:t>A scoped pilot, on your own hardware, guided by us — prove every point with your own data staying inside.</a:t>
            </a:r>
          </a:p>
          <a:p>
            <a:pPr algn="l"/>
            <a:r>
              <a:rPr sz="1400" b="0">
                <a:solidFill>
                  <a:srgbClr val="8B98A9"/>
                </a:solidFill>
                <a:latin typeface="Arial"/>
              </a:rPr>
              <a:t>Kapsamı belirli bir pilot, kendi donanımınızda, bizim rehberliğimizde — her noktayı, kendi veriniz içeride kalarak kanıtlayın.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206240"/>
            <a:ext cx="9966960" cy="2468880"/>
          </a:xfrm>
          <a:prstGeom prst="roundRect">
            <a:avLst/>
          </a:prstGeom>
          <a:noFill/>
          <a:ln w="222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27939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B98A9"/>
                </a:solidFill>
                <a:latin typeface="Arial"/>
              </a:rPr>
              <a:t>YOUR NETWORK · AĞINIZ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521208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Your request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İsteğiniz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19" y="521208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9D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AI Manager (local)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Yerel yönetici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5212080"/>
            <a:ext cx="2468880" cy="1005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  <a:latin typeface="Arial"/>
              </a:rPr>
              <a:t>Local model</a:t>
            </a:r>
          </a:p>
          <a:p>
            <a:pPr algn="ctr"/>
            <a:r>
              <a:rPr sz="1000">
                <a:solidFill>
                  <a:srgbClr val="8B98A9"/>
                </a:solidFill>
                <a:latin typeface="Arial"/>
              </a:rPr>
              <a:t>Yerel model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23360" y="5715000.0"/>
            <a:ext cx="822959" cy="0.0"/>
          </a:xfrm>
          <a:prstGeom prst="line">
            <a:avLst/>
          </a:prstGeom>
          <a:ln w="22225">
            <a:solidFill>
              <a:srgbClr val="5B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199" y="5715000.0"/>
            <a:ext cx="822961" cy="0.0"/>
          </a:xfrm>
          <a:prstGeom prst="line">
            <a:avLst/>
          </a:prstGeom>
          <a:ln w="22225">
            <a:solidFill>
              <a:srgbClr val="5B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6812280"/>
            <a:ext cx="9966960" cy="9525"/>
          </a:xfrm>
          <a:prstGeom prst="rect">
            <a:avLst/>
          </a:prstGeom>
          <a:solidFill>
            <a:srgbClr val="9D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685800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D7BFF"/>
                </a:solidFill>
                <a:latin typeface="Arial"/>
              </a:rPr>
              <a:t>Nothing crosses the line · Hiçbir şey sınırı geçmez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94960" y="2103120"/>
            <a:ext cx="1371600" cy="13716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41264" y="2148840"/>
            <a:ext cx="1097280" cy="109728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E6EDF3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8CFF"/>
                </a:solidFill>
                <a:latin typeface="Arial"/>
              </a:rPr>
              <a:t>AdOS — The Advertising Operating System</a:t>
            </a:r>
          </a:p>
          <a:p>
            <a:pPr algn="ctr"/>
            <a:r>
              <a:rPr sz="1600" b="0">
                <a:solidFill>
                  <a:srgbClr val="8B98A9"/>
                </a:solidFill>
                <a:latin typeface="Arial"/>
              </a:rPr>
              <a:t>AdOS — Reklam İşletim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6EDF3"/>
                </a:solidFill>
                <a:latin typeface="Arial"/>
              </a:rPr>
              <a:t>The AI comes to your data — never the other way around.</a:t>
            </a:r>
          </a:p>
          <a:p>
            <a:pPr algn="ctr"/>
            <a:r>
              <a:rPr sz="1400" b="0">
                <a:solidFill>
                  <a:srgbClr val="8B98A9"/>
                </a:solidFill>
                <a:latin typeface="Arial"/>
              </a:rPr>
              <a:t>Yapay zekâ verinize gelir — asla tersi değil.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B98A9"/>
                </a:solidFill>
                <a:latin typeface="Arial"/>
              </a:rPr>
              <a:t>100% local · No cloud · No API keys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